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45" d="100"/>
          <a:sy n="45" d="100"/>
        </p:scale>
        <p:origin x="99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082BA-0E2F-F191-85D7-8DA5768B90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B2102A-507B-8205-4A9B-4B1631D4D6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ADCE85-D060-C098-0E0A-BE98D98D8C9D}"/>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5" name="Footer Placeholder 4">
            <a:extLst>
              <a:ext uri="{FF2B5EF4-FFF2-40B4-BE49-F238E27FC236}">
                <a16:creationId xmlns:a16="http://schemas.microsoft.com/office/drawing/2014/main" id="{39392BF1-3C6F-407D-3839-9F484617F6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02D49-8C6E-D19F-DC99-E89BD824ABB5}"/>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4063672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A964-929E-B889-F730-8138D26549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64DD57-67EF-81D6-1AE0-FADEB19C7F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A77E17-6BFE-7030-8F40-55E3BEEA2F73}"/>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5" name="Footer Placeholder 4">
            <a:extLst>
              <a:ext uri="{FF2B5EF4-FFF2-40B4-BE49-F238E27FC236}">
                <a16:creationId xmlns:a16="http://schemas.microsoft.com/office/drawing/2014/main" id="{AB51D544-742D-B63F-5437-917D25A7C8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09F2E-4C6D-B9F3-7B03-C6A468083EE0}"/>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2837096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504F-07D5-F04B-D7E4-E1DD773F02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2AC0F0-F1E1-AE72-2300-1F6D201711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239A58-CB29-95CF-34B0-3FB0F27CFC53}"/>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5" name="Footer Placeholder 4">
            <a:extLst>
              <a:ext uri="{FF2B5EF4-FFF2-40B4-BE49-F238E27FC236}">
                <a16:creationId xmlns:a16="http://schemas.microsoft.com/office/drawing/2014/main" id="{D7BA2EB9-4E14-6053-2997-5ECDB2F39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907DBE-C03E-4BFD-4D33-B8A90ABF91CC}"/>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3847245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0FECF-A236-C4D2-DCB3-7215BFA932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BBF9B7-D847-FCF8-1422-96C819DD1B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3BB622-B69F-314B-26AE-7C01668083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6E315D-7075-E0DD-CF5A-FC52EFA1D3BA}"/>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6" name="Footer Placeholder 5">
            <a:extLst>
              <a:ext uri="{FF2B5EF4-FFF2-40B4-BE49-F238E27FC236}">
                <a16:creationId xmlns:a16="http://schemas.microsoft.com/office/drawing/2014/main" id="{3EF588F3-2A4E-E00B-8D5E-4060AB408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361A72-1666-401D-2CBB-288085CE5792}"/>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2239352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DE05D-7D7F-4D0C-37E5-F7F79DE8DB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A51679-00FF-08FC-6FFD-A77D2AB099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70D8D-E557-0DC1-9252-20CEF7A8AD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74C7C9-7F43-E654-BF56-0C48A3D85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DD20E-1633-3A17-61F9-3189B40B30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CFDC6AF-56F5-AACA-0509-0D3F33DBE14B}"/>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8" name="Footer Placeholder 7">
            <a:extLst>
              <a:ext uri="{FF2B5EF4-FFF2-40B4-BE49-F238E27FC236}">
                <a16:creationId xmlns:a16="http://schemas.microsoft.com/office/drawing/2014/main" id="{155A3092-EF5D-B642-2FB8-168E2F5BC9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B12587-EADE-FADC-9653-1B5340E7D9EA}"/>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3941960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17A07-2922-04BD-820A-B288FC119F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3C7A2A-75FC-902A-FBD4-4E78DD2CA0D4}"/>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4" name="Footer Placeholder 3">
            <a:extLst>
              <a:ext uri="{FF2B5EF4-FFF2-40B4-BE49-F238E27FC236}">
                <a16:creationId xmlns:a16="http://schemas.microsoft.com/office/drawing/2014/main" id="{58F5619A-5DF2-1395-B45D-AE919F4483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0367C-32D8-301B-B6E1-2A7A7A7D05EE}"/>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775728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26EBF2-4EE3-0D90-926B-6647E1680BBC}"/>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3" name="Footer Placeholder 2">
            <a:extLst>
              <a:ext uri="{FF2B5EF4-FFF2-40B4-BE49-F238E27FC236}">
                <a16:creationId xmlns:a16="http://schemas.microsoft.com/office/drawing/2014/main" id="{71F65B80-9C26-0F84-92FE-0BDDEC0437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E75B41-A1F2-D657-1943-FA7151AD7990}"/>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3846484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2961-C8A4-0684-5AAF-F94B4B5316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CE46C9-15D1-DDCD-FC1D-0BED69FAF8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D7CD4C-66E0-6A2E-1C5D-DF1893C96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56D03-A536-FE7F-D731-D16F6A71FD7E}"/>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6" name="Footer Placeholder 5">
            <a:extLst>
              <a:ext uri="{FF2B5EF4-FFF2-40B4-BE49-F238E27FC236}">
                <a16:creationId xmlns:a16="http://schemas.microsoft.com/office/drawing/2014/main" id="{BB63FBE2-AA59-379F-AAFB-09FAEC797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59B0CA-0604-0DA3-B389-6893A3E96154}"/>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327553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82AF-A15C-1A91-4C1F-C7D728AD99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CF2A44-F09B-A279-A158-52815A47F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D53259-1340-3EE3-AEC4-840055D0D8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C394C8-68BE-3F54-7195-F24B560D7D8F}"/>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6" name="Footer Placeholder 5">
            <a:extLst>
              <a:ext uri="{FF2B5EF4-FFF2-40B4-BE49-F238E27FC236}">
                <a16:creationId xmlns:a16="http://schemas.microsoft.com/office/drawing/2014/main" id="{473EF0F8-F2C3-479F-8CDD-3ECA820C30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F3B143-632E-0154-C247-BA63253E4566}"/>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528082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EEB71-BABB-C373-8EAB-C719252506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F8AF19-01B7-BDBE-7021-C77C0DD97A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E13C-F69A-63CC-53B6-37B76554A190}"/>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5" name="Footer Placeholder 4">
            <a:extLst>
              <a:ext uri="{FF2B5EF4-FFF2-40B4-BE49-F238E27FC236}">
                <a16:creationId xmlns:a16="http://schemas.microsoft.com/office/drawing/2014/main" id="{CA97FDF7-7F83-5B91-FDFE-300AB1731F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19FFC-7281-050E-D567-719B4CC5EF74}"/>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2505336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7FB514-FB4E-7EC9-E61B-F9D3547C41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6546F8-0827-D226-98A9-7E7A144B41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635484-A3A3-1945-042E-628E42CDB4DE}"/>
              </a:ext>
            </a:extLst>
          </p:cNvPr>
          <p:cNvSpPr>
            <a:spLocks noGrp="1"/>
          </p:cNvSpPr>
          <p:nvPr>
            <p:ph type="dt" sz="half" idx="10"/>
          </p:nvPr>
        </p:nvSpPr>
        <p:spPr/>
        <p:txBody>
          <a:bodyPr/>
          <a:lstStyle/>
          <a:p>
            <a:fld id="{BED980E1-7A45-4C93-8716-475A1935DA6C}" type="datetimeFigureOut">
              <a:rPr lang="en-US" smtClean="0"/>
              <a:t>4/30/2026</a:t>
            </a:fld>
            <a:endParaRPr lang="en-US"/>
          </a:p>
        </p:txBody>
      </p:sp>
      <p:sp>
        <p:nvSpPr>
          <p:cNvPr id="5" name="Footer Placeholder 4">
            <a:extLst>
              <a:ext uri="{FF2B5EF4-FFF2-40B4-BE49-F238E27FC236}">
                <a16:creationId xmlns:a16="http://schemas.microsoft.com/office/drawing/2014/main" id="{A5509D5C-1158-E83B-71C0-996BFF2F6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539B89-FD82-7FDF-B8CB-96AB9173C88F}"/>
              </a:ext>
            </a:extLst>
          </p:cNvPr>
          <p:cNvSpPr>
            <a:spLocks noGrp="1"/>
          </p:cNvSpPr>
          <p:nvPr>
            <p:ph type="sldNum" sz="quarter" idx="12"/>
          </p:nvPr>
        </p:nvSpPr>
        <p:spPr/>
        <p:txBody>
          <a:bodyPr/>
          <a:lstStyle/>
          <a:p>
            <a:fld id="{0D0C8207-E1FA-4BEE-A569-583555254084}" type="slidenum">
              <a:rPr lang="en-US" smtClean="0"/>
              <a:t>‹#›</a:t>
            </a:fld>
            <a:endParaRPr lang="en-US"/>
          </a:p>
        </p:txBody>
      </p:sp>
    </p:spTree>
    <p:extLst>
      <p:ext uri="{BB962C8B-B14F-4D97-AF65-F5344CB8AC3E}">
        <p14:creationId xmlns:p14="http://schemas.microsoft.com/office/powerpoint/2010/main" val="2963614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9274E-14F7-076B-215C-99E0FC2E31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0D4D51-9D0D-B48E-8CFF-62FDCB3ED3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5560E4-673F-F4E9-6743-3095D984C9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D980E1-7A45-4C93-8716-475A1935DA6C}" type="datetimeFigureOut">
              <a:rPr lang="en-US" smtClean="0"/>
              <a:t>4/30/2026</a:t>
            </a:fld>
            <a:endParaRPr lang="en-US"/>
          </a:p>
        </p:txBody>
      </p:sp>
      <p:sp>
        <p:nvSpPr>
          <p:cNvPr id="5" name="Footer Placeholder 4">
            <a:extLst>
              <a:ext uri="{FF2B5EF4-FFF2-40B4-BE49-F238E27FC236}">
                <a16:creationId xmlns:a16="http://schemas.microsoft.com/office/drawing/2014/main" id="{A0236826-930D-3F9E-2FAA-581FD84E05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4CD2205-66D5-40DD-2C40-287BC4B322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C8207-E1FA-4BEE-A569-583555254084}" type="slidenum">
              <a:rPr lang="en-US" smtClean="0"/>
              <a:t>‹#›</a:t>
            </a:fld>
            <a:endParaRPr lang="en-US"/>
          </a:p>
        </p:txBody>
      </p:sp>
    </p:spTree>
    <p:extLst>
      <p:ext uri="{BB962C8B-B14F-4D97-AF65-F5344CB8AC3E}">
        <p14:creationId xmlns:p14="http://schemas.microsoft.com/office/powerpoint/2010/main" val="4178488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1266" name="Picture 2" descr="Smart Scientific Calculator Python Project">
            <a:extLst>
              <a:ext uri="{FF2B5EF4-FFF2-40B4-BE49-F238E27FC236}">
                <a16:creationId xmlns:a16="http://schemas.microsoft.com/office/drawing/2014/main" id="{EEA957AA-44E9-295E-20C8-227F16B30A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87" y="211666"/>
            <a:ext cx="9652001" cy="6434668"/>
          </a:xfrm>
          <a:prstGeom prst="rect">
            <a:avLst/>
          </a:prstGeom>
          <a:noFill/>
          <a:ln>
            <a:solidFill>
              <a:srgbClr val="FF0000"/>
            </a:solidFill>
          </a:ln>
          <a:effectLst>
            <a:glow rad="101600">
              <a:schemeClr val="accent1">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1268" name="Picture 4" descr="Logo design by Anshita Srivastava">
            <a:extLst>
              <a:ext uri="{FF2B5EF4-FFF2-40B4-BE49-F238E27FC236}">
                <a16:creationId xmlns:a16="http://schemas.microsoft.com/office/drawing/2014/main" id="{9C97D920-C072-DE0A-60EE-FE771D0E2B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1976" y="4279653"/>
            <a:ext cx="3550024" cy="2366682"/>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842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943A62-415C-ABA0-7CEA-43DD84B0A037}"/>
              </a:ext>
            </a:extLst>
          </p:cNvPr>
          <p:cNvSpPr txBox="1"/>
          <p:nvPr/>
        </p:nvSpPr>
        <p:spPr>
          <a:xfrm>
            <a:off x="4131733" y="778933"/>
            <a:ext cx="4199467" cy="646331"/>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r>
              <a:rPr lang="en-US" sz="3600" b="1" dirty="0">
                <a:effectLst>
                  <a:outerShdw blurRad="38100" dist="38100" dir="2700000" algn="tl">
                    <a:srgbClr val="000000">
                      <a:alpha val="43137"/>
                    </a:srgbClr>
                  </a:outerShdw>
                </a:effectLst>
              </a:rPr>
              <a:t>          Introduction</a:t>
            </a:r>
          </a:p>
        </p:txBody>
      </p:sp>
      <p:sp>
        <p:nvSpPr>
          <p:cNvPr id="5" name="TextBox 4">
            <a:extLst>
              <a:ext uri="{FF2B5EF4-FFF2-40B4-BE49-F238E27FC236}">
                <a16:creationId xmlns:a16="http://schemas.microsoft.com/office/drawing/2014/main" id="{BF7E91A3-FCB7-EA97-F7F9-6AE3BE60B016}"/>
              </a:ext>
            </a:extLst>
          </p:cNvPr>
          <p:cNvSpPr txBox="1"/>
          <p:nvPr/>
        </p:nvSpPr>
        <p:spPr>
          <a:xfrm>
            <a:off x="592667" y="2184399"/>
            <a:ext cx="10397066" cy="3539430"/>
          </a:xfrm>
          <a:prstGeom prst="rect">
            <a:avLst/>
          </a:prstGeom>
          <a:noFill/>
        </p:spPr>
        <p:txBody>
          <a:bodyPr wrap="square">
            <a:spAutoFit/>
          </a:bodyPr>
          <a:lstStyle/>
          <a:p>
            <a:r>
              <a:rPr lang="en-US" sz="3200" dirty="0"/>
              <a:t>A scientific calculator is an electronic device designed to perform both basic arithmetic and advanced mathematical operations such as trigonometric, logarithmic, exponential, and statistical functions. It is widely used in education, engineering, and scientific fields because it simplifies complex calculations that would otherwise require manual computation.</a:t>
            </a:r>
          </a:p>
        </p:txBody>
      </p:sp>
    </p:spTree>
    <p:extLst>
      <p:ext uri="{BB962C8B-B14F-4D97-AF65-F5344CB8AC3E}">
        <p14:creationId xmlns:p14="http://schemas.microsoft.com/office/powerpoint/2010/main" val="1148503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53E2C1-B233-C7CF-8844-694014FF617B}"/>
              </a:ext>
            </a:extLst>
          </p:cNvPr>
          <p:cNvSpPr txBox="1"/>
          <p:nvPr/>
        </p:nvSpPr>
        <p:spPr>
          <a:xfrm>
            <a:off x="3048000" y="612845"/>
            <a:ext cx="6096000" cy="6370975"/>
          </a:xfrm>
          <a:prstGeom prst="rect">
            <a:avLst/>
          </a:prstGeom>
          <a:noFill/>
        </p:spPr>
        <p:txBody>
          <a:bodyPr wrap="square">
            <a:spAutoFit/>
          </a:bodyPr>
          <a:lstStyle/>
          <a:p>
            <a:pPr>
              <a:buNone/>
            </a:pPr>
            <a:r>
              <a:rPr lang="en-US" sz="2400" b="1" dirty="0"/>
              <a:t>🔎 Key Characteristics of a Scientific </a:t>
            </a:r>
            <a:r>
              <a:rPr lang="en-US" sz="2000" b="1" dirty="0"/>
              <a:t>Calculator</a:t>
            </a:r>
          </a:p>
          <a:p>
            <a:pPr>
              <a:buFont typeface="Arial" panose="020B0604020202020204" pitchFamily="34" charset="0"/>
              <a:buChar char="•"/>
            </a:pPr>
            <a:r>
              <a:rPr lang="en-US" sz="2000" b="1" dirty="0">
                <a:effectLst/>
              </a:rPr>
              <a:t>Basic Functions:</a:t>
            </a:r>
            <a:r>
              <a:rPr lang="en-US" sz="2000" dirty="0">
                <a:effectLst/>
              </a:rPr>
              <a:t> Addition, subtraction, multiplication</a:t>
            </a:r>
            <a:r>
              <a:rPr lang="en-US" sz="2400" dirty="0">
                <a:effectLst/>
              </a:rPr>
              <a:t>, division, square roots.</a:t>
            </a:r>
            <a:endParaRPr lang="en-US" sz="2400" dirty="0"/>
          </a:p>
          <a:p>
            <a:pPr>
              <a:buFont typeface="Arial" panose="020B0604020202020204" pitchFamily="34" charset="0"/>
              <a:buChar char="•"/>
            </a:pPr>
            <a:r>
              <a:rPr lang="en-US" sz="2400" b="1" dirty="0">
                <a:effectLst/>
              </a:rPr>
              <a:t>Advanced Functions:</a:t>
            </a:r>
            <a:endParaRPr lang="en-US" sz="2400" dirty="0"/>
          </a:p>
          <a:p>
            <a:pPr marL="742950" lvl="1" indent="-285750">
              <a:buFont typeface="Arial" panose="020B0604020202020204" pitchFamily="34" charset="0"/>
              <a:buChar char="•"/>
            </a:pPr>
            <a:r>
              <a:rPr lang="en-US" sz="2400" dirty="0">
                <a:effectLst/>
              </a:rPr>
              <a:t>Trigonometric (sin, cos, tan, and inverses)</a:t>
            </a:r>
            <a:endParaRPr lang="en-US" sz="2400" dirty="0"/>
          </a:p>
          <a:p>
            <a:pPr marL="742950" lvl="1" indent="-285750">
              <a:buFont typeface="Arial" panose="020B0604020202020204" pitchFamily="34" charset="0"/>
              <a:buChar char="•"/>
            </a:pPr>
            <a:r>
              <a:rPr lang="en-US" sz="2400" dirty="0">
                <a:effectLst/>
              </a:rPr>
              <a:t>Logarithmic (log base 10, ln)</a:t>
            </a:r>
            <a:endParaRPr lang="en-US" sz="2400" dirty="0"/>
          </a:p>
          <a:p>
            <a:pPr marL="742950" lvl="1" indent="-285750">
              <a:buFont typeface="Arial" panose="020B0604020202020204" pitchFamily="34" charset="0"/>
              <a:buChar char="•"/>
            </a:pPr>
            <a:r>
              <a:rPr lang="en-US" sz="2400" dirty="0">
                <a:effectLst/>
              </a:rPr>
              <a:t>Exponential functions (e^x, powers, roots)</a:t>
            </a:r>
            <a:endParaRPr lang="en-US" sz="2400" dirty="0"/>
          </a:p>
          <a:p>
            <a:pPr marL="742950" lvl="1" indent="-285750">
              <a:buFont typeface="Arial" panose="020B0604020202020204" pitchFamily="34" charset="0"/>
              <a:buChar char="•"/>
            </a:pPr>
            <a:r>
              <a:rPr lang="en-US" sz="2400" dirty="0">
                <a:effectLst/>
              </a:rPr>
              <a:t>Scientific notation for very large/small numbers</a:t>
            </a:r>
            <a:endParaRPr lang="en-US" sz="2400" dirty="0"/>
          </a:p>
          <a:p>
            <a:pPr>
              <a:buFont typeface="Arial" panose="020B0604020202020204" pitchFamily="34" charset="0"/>
              <a:buChar char="•"/>
            </a:pPr>
            <a:r>
              <a:rPr lang="en-US" sz="2400" b="1" dirty="0">
                <a:effectLst/>
              </a:rPr>
              <a:t>Memory &amp; Programmability:</a:t>
            </a:r>
            <a:r>
              <a:rPr lang="en-US" sz="2400" dirty="0">
                <a:effectLst/>
              </a:rPr>
              <a:t> Some models allow storing equations, variables, and even small programs.</a:t>
            </a:r>
            <a:endParaRPr lang="en-US" sz="2400" dirty="0"/>
          </a:p>
          <a:p>
            <a:pPr>
              <a:buFont typeface="Arial" panose="020B0604020202020204" pitchFamily="34" charset="0"/>
              <a:buChar char="•"/>
            </a:pPr>
            <a:r>
              <a:rPr lang="en-US" sz="2400" b="1" dirty="0">
                <a:effectLst/>
              </a:rPr>
              <a:t>Constants:</a:t>
            </a:r>
            <a:r>
              <a:rPr lang="en-US" sz="2400" dirty="0">
                <a:effectLst/>
              </a:rPr>
              <a:t> Quick access to π and e.</a:t>
            </a:r>
            <a:endParaRPr lang="en-US" sz="2400" dirty="0"/>
          </a:p>
          <a:p>
            <a:pPr>
              <a:buFont typeface="Arial" panose="020B0604020202020204" pitchFamily="34" charset="0"/>
              <a:buChar char="•"/>
            </a:pPr>
            <a:r>
              <a:rPr lang="en-US" sz="2400" b="1" dirty="0">
                <a:effectLst/>
              </a:rPr>
              <a:t>Display:</a:t>
            </a:r>
            <a:r>
              <a:rPr lang="en-US" sz="2400" dirty="0">
                <a:effectLst/>
              </a:rPr>
              <a:t> Modern calculators often have multi-line displays to show both input and output simultaneously.</a:t>
            </a:r>
            <a:endParaRPr lang="en-US" sz="2400" dirty="0"/>
          </a:p>
        </p:txBody>
      </p:sp>
    </p:spTree>
    <p:extLst>
      <p:ext uri="{BB962C8B-B14F-4D97-AF65-F5344CB8AC3E}">
        <p14:creationId xmlns:p14="http://schemas.microsoft.com/office/powerpoint/2010/main" val="1940637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FC14DC35-9D89-3441-6A4C-457CA53E62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AD2B93B1-B87C-4239-5606-9DA5D8092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24C568CE-1FA0-7170-D9A7-630BFFBDB5F9}"/>
              </a:ext>
            </a:extLst>
          </p:cNvPr>
          <p:cNvGraphicFramePr>
            <a:graphicFrameLocks noGrp="1"/>
          </p:cNvGraphicFramePr>
          <p:nvPr>
            <p:extLst>
              <p:ext uri="{D42A27DB-BD31-4B8C-83A1-F6EECF244321}">
                <p14:modId xmlns:p14="http://schemas.microsoft.com/office/powerpoint/2010/main" val="899086853"/>
              </p:ext>
            </p:extLst>
          </p:nvPr>
        </p:nvGraphicFramePr>
        <p:xfrm>
          <a:off x="863600" y="406400"/>
          <a:ext cx="10625661" cy="6195488"/>
        </p:xfrm>
        <a:graphic>
          <a:graphicData uri="http://schemas.openxmlformats.org/drawingml/2006/table">
            <a:tbl>
              <a:tblPr/>
              <a:tblGrid>
                <a:gridCol w="3541887">
                  <a:extLst>
                    <a:ext uri="{9D8B030D-6E8A-4147-A177-3AD203B41FA5}">
                      <a16:colId xmlns:a16="http://schemas.microsoft.com/office/drawing/2014/main" val="3021402299"/>
                    </a:ext>
                  </a:extLst>
                </a:gridCol>
                <a:gridCol w="3541887">
                  <a:extLst>
                    <a:ext uri="{9D8B030D-6E8A-4147-A177-3AD203B41FA5}">
                      <a16:colId xmlns:a16="http://schemas.microsoft.com/office/drawing/2014/main" val="3148340827"/>
                    </a:ext>
                  </a:extLst>
                </a:gridCol>
                <a:gridCol w="3541887">
                  <a:extLst>
                    <a:ext uri="{9D8B030D-6E8A-4147-A177-3AD203B41FA5}">
                      <a16:colId xmlns:a16="http://schemas.microsoft.com/office/drawing/2014/main" val="3651291356"/>
                    </a:ext>
                  </a:extLst>
                </a:gridCol>
              </a:tblGrid>
              <a:tr h="774436">
                <a:tc>
                  <a:txBody>
                    <a:bodyPr/>
                    <a:lstStyle/>
                    <a:p>
                      <a:pPr>
                        <a:buNone/>
                      </a:pPr>
                      <a:r>
                        <a:rPr lang="en-US"/>
                        <a:t>Feature</a:t>
                      </a:r>
                    </a:p>
                  </a:txBody>
                  <a:tcPr anchor="ctr">
                    <a:lnL>
                      <a:noFill/>
                    </a:lnL>
                    <a:lnR>
                      <a:noFill/>
                    </a:lnR>
                    <a:lnT>
                      <a:noFill/>
                    </a:lnT>
                    <a:lnB>
                      <a:noFill/>
                    </a:lnB>
                    <a:noFill/>
                  </a:tcPr>
                </a:tc>
                <a:tc>
                  <a:txBody>
                    <a:bodyPr/>
                    <a:lstStyle/>
                    <a:p>
                      <a:pPr>
                        <a:buNone/>
                      </a:pPr>
                      <a:r>
                        <a:rPr lang="en-US"/>
                        <a:t>Basic Calculator</a:t>
                      </a:r>
                    </a:p>
                  </a:txBody>
                  <a:tcPr anchor="ctr">
                    <a:lnL>
                      <a:noFill/>
                    </a:lnL>
                    <a:lnR>
                      <a:noFill/>
                    </a:lnR>
                    <a:lnT>
                      <a:noFill/>
                    </a:lnT>
                    <a:lnB>
                      <a:noFill/>
                    </a:lnB>
                    <a:noFill/>
                  </a:tcPr>
                </a:tc>
                <a:tc>
                  <a:txBody>
                    <a:bodyPr/>
                    <a:lstStyle/>
                    <a:p>
                      <a:pPr>
                        <a:buNone/>
                      </a:pPr>
                      <a:r>
                        <a:rPr lang="en-US"/>
                        <a:t>Scientific Calculator</a:t>
                      </a:r>
                    </a:p>
                  </a:txBody>
                  <a:tcPr anchor="ctr">
                    <a:lnL>
                      <a:noFill/>
                    </a:lnL>
                    <a:lnR>
                      <a:noFill/>
                    </a:lnR>
                    <a:lnT>
                      <a:noFill/>
                    </a:lnT>
                    <a:lnB>
                      <a:noFill/>
                    </a:lnB>
                    <a:noFill/>
                  </a:tcPr>
                </a:tc>
                <a:extLst>
                  <a:ext uri="{0D108BD9-81ED-4DB2-BD59-A6C34878D82A}">
                    <a16:rowId xmlns:a16="http://schemas.microsoft.com/office/drawing/2014/main" val="391548220"/>
                  </a:ext>
                </a:extLst>
              </a:tr>
              <a:tr h="774436">
                <a:tc>
                  <a:txBody>
                    <a:bodyPr/>
                    <a:lstStyle/>
                    <a:p>
                      <a:pPr>
                        <a:buNone/>
                      </a:pPr>
                      <a:r>
                        <a:rPr lang="en-US"/>
                        <a:t>Arithmetic ( +, −, ×, ÷ )</a:t>
                      </a:r>
                    </a:p>
                  </a:txBody>
                  <a:tcPr anchor="ctr">
                    <a:lnL>
                      <a:noFill/>
                    </a:lnL>
                    <a:lnR>
                      <a:noFill/>
                    </a:lnR>
                    <a:lnT>
                      <a:noFill/>
                    </a:lnT>
                    <a:lnB>
                      <a:noFill/>
                    </a:lnB>
                    <a:noFill/>
                  </a:tcPr>
                </a:tc>
                <a:tc>
                  <a:txBody>
                    <a:bodyPr/>
                    <a:lstStyle/>
                    <a:p>
                      <a:pPr>
                        <a:buNone/>
                      </a:pPr>
                      <a:r>
                        <a:rPr lang="en-US"/>
                        <a:t>✅ Yes</a:t>
                      </a:r>
                    </a:p>
                  </a:txBody>
                  <a:tcPr anchor="ctr">
                    <a:lnL>
                      <a:noFill/>
                    </a:lnL>
                    <a:lnR>
                      <a:noFill/>
                    </a:lnR>
                    <a:lnT>
                      <a:noFill/>
                    </a:lnT>
                    <a:lnB>
                      <a:noFill/>
                    </a:lnB>
                    <a:noFill/>
                  </a:tcPr>
                </a:tc>
                <a:tc>
                  <a:txBody>
                    <a:bodyPr/>
                    <a:lstStyle/>
                    <a:p>
                      <a:pPr>
                        <a:buNone/>
                      </a:pPr>
                      <a:r>
                        <a:rPr lang="en-US"/>
                        <a:t>✅ Yes</a:t>
                      </a:r>
                    </a:p>
                  </a:txBody>
                  <a:tcPr anchor="ctr">
                    <a:lnL>
                      <a:noFill/>
                    </a:lnL>
                    <a:lnR>
                      <a:noFill/>
                    </a:lnR>
                    <a:lnT>
                      <a:noFill/>
                    </a:lnT>
                    <a:lnB>
                      <a:noFill/>
                    </a:lnB>
                    <a:noFill/>
                  </a:tcPr>
                </a:tc>
                <a:extLst>
                  <a:ext uri="{0D108BD9-81ED-4DB2-BD59-A6C34878D82A}">
                    <a16:rowId xmlns:a16="http://schemas.microsoft.com/office/drawing/2014/main" val="93253471"/>
                  </a:ext>
                </a:extLst>
              </a:tr>
              <a:tr h="774436">
                <a:tc>
                  <a:txBody>
                    <a:bodyPr/>
                    <a:lstStyle/>
                    <a:p>
                      <a:pPr>
                        <a:buNone/>
                      </a:pPr>
                      <a:r>
                        <a:rPr lang="en-US"/>
                        <a:t>Square roots, powers</a:t>
                      </a:r>
                    </a:p>
                  </a:txBody>
                  <a:tcPr anchor="ctr">
                    <a:lnL>
                      <a:noFill/>
                    </a:lnL>
                    <a:lnR>
                      <a:noFill/>
                    </a:lnR>
                    <a:lnT>
                      <a:noFill/>
                    </a:lnT>
                    <a:lnB>
                      <a:noFill/>
                    </a:lnB>
                    <a:noFill/>
                  </a:tcPr>
                </a:tc>
                <a:tc>
                  <a:txBody>
                    <a:bodyPr/>
                    <a:lstStyle/>
                    <a:p>
                      <a:pPr>
                        <a:buNone/>
                      </a:pPr>
                      <a:r>
                        <a:rPr lang="en-US"/>
                        <a:t>❌ No</a:t>
                      </a:r>
                    </a:p>
                  </a:txBody>
                  <a:tcPr anchor="ctr">
                    <a:lnL>
                      <a:noFill/>
                    </a:lnL>
                    <a:lnR>
                      <a:noFill/>
                    </a:lnR>
                    <a:lnT>
                      <a:noFill/>
                    </a:lnT>
                    <a:lnB>
                      <a:noFill/>
                    </a:lnB>
                    <a:noFill/>
                  </a:tcPr>
                </a:tc>
                <a:tc>
                  <a:txBody>
                    <a:bodyPr/>
                    <a:lstStyle/>
                    <a:p>
                      <a:pPr>
                        <a:buNone/>
                      </a:pPr>
                      <a:r>
                        <a:rPr lang="en-US"/>
                        <a:t>✅ Yes</a:t>
                      </a:r>
                    </a:p>
                  </a:txBody>
                  <a:tcPr anchor="ctr">
                    <a:lnL>
                      <a:noFill/>
                    </a:lnL>
                    <a:lnR>
                      <a:noFill/>
                    </a:lnR>
                    <a:lnT>
                      <a:noFill/>
                    </a:lnT>
                    <a:lnB>
                      <a:noFill/>
                    </a:lnB>
                    <a:noFill/>
                  </a:tcPr>
                </a:tc>
                <a:extLst>
                  <a:ext uri="{0D108BD9-81ED-4DB2-BD59-A6C34878D82A}">
                    <a16:rowId xmlns:a16="http://schemas.microsoft.com/office/drawing/2014/main" val="3609194737"/>
                  </a:ext>
                </a:extLst>
              </a:tr>
              <a:tr h="774436">
                <a:tc>
                  <a:txBody>
                    <a:bodyPr/>
                    <a:lstStyle/>
                    <a:p>
                      <a:pPr>
                        <a:buNone/>
                      </a:pPr>
                      <a:r>
                        <a:rPr lang="en-US"/>
                        <a:t>Trigonometric functions</a:t>
                      </a:r>
                    </a:p>
                  </a:txBody>
                  <a:tcPr anchor="ctr">
                    <a:lnL>
                      <a:noFill/>
                    </a:lnL>
                    <a:lnR>
                      <a:noFill/>
                    </a:lnR>
                    <a:lnT>
                      <a:noFill/>
                    </a:lnT>
                    <a:lnB>
                      <a:noFill/>
                    </a:lnB>
                    <a:noFill/>
                  </a:tcPr>
                </a:tc>
                <a:tc>
                  <a:txBody>
                    <a:bodyPr/>
                    <a:lstStyle/>
                    <a:p>
                      <a:pPr>
                        <a:buNone/>
                      </a:pPr>
                      <a:r>
                        <a:rPr lang="en-US"/>
                        <a:t>❌ No</a:t>
                      </a:r>
                    </a:p>
                  </a:txBody>
                  <a:tcPr anchor="ctr">
                    <a:lnL>
                      <a:noFill/>
                    </a:lnL>
                    <a:lnR>
                      <a:noFill/>
                    </a:lnR>
                    <a:lnT>
                      <a:noFill/>
                    </a:lnT>
                    <a:lnB>
                      <a:noFill/>
                    </a:lnB>
                    <a:noFill/>
                  </a:tcPr>
                </a:tc>
                <a:tc>
                  <a:txBody>
                    <a:bodyPr/>
                    <a:lstStyle/>
                    <a:p>
                      <a:pPr>
                        <a:buNone/>
                      </a:pPr>
                      <a:r>
                        <a:rPr lang="en-US"/>
                        <a:t>✅ Yes</a:t>
                      </a:r>
                    </a:p>
                  </a:txBody>
                  <a:tcPr anchor="ctr">
                    <a:lnL>
                      <a:noFill/>
                    </a:lnL>
                    <a:lnR>
                      <a:noFill/>
                    </a:lnR>
                    <a:lnT>
                      <a:noFill/>
                    </a:lnT>
                    <a:lnB>
                      <a:noFill/>
                    </a:lnB>
                    <a:noFill/>
                  </a:tcPr>
                </a:tc>
                <a:extLst>
                  <a:ext uri="{0D108BD9-81ED-4DB2-BD59-A6C34878D82A}">
                    <a16:rowId xmlns:a16="http://schemas.microsoft.com/office/drawing/2014/main" val="3808688053"/>
                  </a:ext>
                </a:extLst>
              </a:tr>
              <a:tr h="774436">
                <a:tc>
                  <a:txBody>
                    <a:bodyPr/>
                    <a:lstStyle/>
                    <a:p>
                      <a:pPr>
                        <a:buNone/>
                      </a:pPr>
                      <a:r>
                        <a:rPr lang="en-US"/>
                        <a:t>Logarithms &amp; exponentials</a:t>
                      </a:r>
                    </a:p>
                  </a:txBody>
                  <a:tcPr anchor="ctr">
                    <a:lnL>
                      <a:noFill/>
                    </a:lnL>
                    <a:lnR>
                      <a:noFill/>
                    </a:lnR>
                    <a:lnT>
                      <a:noFill/>
                    </a:lnT>
                    <a:lnB>
                      <a:noFill/>
                    </a:lnB>
                    <a:noFill/>
                  </a:tcPr>
                </a:tc>
                <a:tc>
                  <a:txBody>
                    <a:bodyPr/>
                    <a:lstStyle/>
                    <a:p>
                      <a:pPr>
                        <a:buNone/>
                      </a:pPr>
                      <a:r>
                        <a:rPr lang="en-US"/>
                        <a:t>❌ No</a:t>
                      </a:r>
                    </a:p>
                  </a:txBody>
                  <a:tcPr anchor="ctr">
                    <a:lnL>
                      <a:noFill/>
                    </a:lnL>
                    <a:lnR>
                      <a:noFill/>
                    </a:lnR>
                    <a:lnT>
                      <a:noFill/>
                    </a:lnT>
                    <a:lnB>
                      <a:noFill/>
                    </a:lnB>
                    <a:noFill/>
                  </a:tcPr>
                </a:tc>
                <a:tc>
                  <a:txBody>
                    <a:bodyPr/>
                    <a:lstStyle/>
                    <a:p>
                      <a:pPr>
                        <a:buNone/>
                      </a:pPr>
                      <a:r>
                        <a:rPr lang="en-US"/>
                        <a:t>✅ Yes</a:t>
                      </a:r>
                    </a:p>
                  </a:txBody>
                  <a:tcPr anchor="ctr">
                    <a:lnL>
                      <a:noFill/>
                    </a:lnL>
                    <a:lnR>
                      <a:noFill/>
                    </a:lnR>
                    <a:lnT>
                      <a:noFill/>
                    </a:lnT>
                    <a:lnB>
                      <a:noFill/>
                    </a:lnB>
                    <a:noFill/>
                  </a:tcPr>
                </a:tc>
                <a:extLst>
                  <a:ext uri="{0D108BD9-81ED-4DB2-BD59-A6C34878D82A}">
                    <a16:rowId xmlns:a16="http://schemas.microsoft.com/office/drawing/2014/main" val="977822861"/>
                  </a:ext>
                </a:extLst>
              </a:tr>
              <a:tr h="774436">
                <a:tc>
                  <a:txBody>
                    <a:bodyPr/>
                    <a:lstStyle/>
                    <a:p>
                      <a:pPr>
                        <a:buNone/>
                      </a:pPr>
                      <a:r>
                        <a:rPr lang="en-US"/>
                        <a:t>Statistical operations</a:t>
                      </a:r>
                    </a:p>
                  </a:txBody>
                  <a:tcPr anchor="ctr">
                    <a:lnL>
                      <a:noFill/>
                    </a:lnL>
                    <a:lnR>
                      <a:noFill/>
                    </a:lnR>
                    <a:lnT>
                      <a:noFill/>
                    </a:lnT>
                    <a:lnB>
                      <a:noFill/>
                    </a:lnB>
                    <a:noFill/>
                  </a:tcPr>
                </a:tc>
                <a:tc>
                  <a:txBody>
                    <a:bodyPr/>
                    <a:lstStyle/>
                    <a:p>
                      <a:pPr>
                        <a:buNone/>
                      </a:pPr>
                      <a:r>
                        <a:rPr lang="en-US"/>
                        <a:t>❌ No</a:t>
                      </a:r>
                    </a:p>
                  </a:txBody>
                  <a:tcPr anchor="ctr">
                    <a:lnL>
                      <a:noFill/>
                    </a:lnL>
                    <a:lnR>
                      <a:noFill/>
                    </a:lnR>
                    <a:lnT>
                      <a:noFill/>
                    </a:lnT>
                    <a:lnB>
                      <a:noFill/>
                    </a:lnB>
                    <a:noFill/>
                  </a:tcPr>
                </a:tc>
                <a:tc>
                  <a:txBody>
                    <a:bodyPr/>
                    <a:lstStyle/>
                    <a:p>
                      <a:pPr>
                        <a:buNone/>
                      </a:pPr>
                      <a:r>
                        <a:rPr lang="en-US"/>
                        <a:t>✅ Yes (some models)</a:t>
                      </a:r>
                    </a:p>
                  </a:txBody>
                  <a:tcPr anchor="ctr">
                    <a:lnL>
                      <a:noFill/>
                    </a:lnL>
                    <a:lnR>
                      <a:noFill/>
                    </a:lnR>
                    <a:lnT>
                      <a:noFill/>
                    </a:lnT>
                    <a:lnB>
                      <a:noFill/>
                    </a:lnB>
                    <a:noFill/>
                  </a:tcPr>
                </a:tc>
                <a:extLst>
                  <a:ext uri="{0D108BD9-81ED-4DB2-BD59-A6C34878D82A}">
                    <a16:rowId xmlns:a16="http://schemas.microsoft.com/office/drawing/2014/main" val="3039510270"/>
                  </a:ext>
                </a:extLst>
              </a:tr>
              <a:tr h="774436">
                <a:tc>
                  <a:txBody>
                    <a:bodyPr/>
                    <a:lstStyle/>
                    <a:p>
                      <a:pPr>
                        <a:buNone/>
                      </a:pPr>
                      <a:r>
                        <a:rPr lang="en-US"/>
                        <a:t>Programmability</a:t>
                      </a:r>
                    </a:p>
                  </a:txBody>
                  <a:tcPr anchor="ctr">
                    <a:lnL>
                      <a:noFill/>
                    </a:lnL>
                    <a:lnR>
                      <a:noFill/>
                    </a:lnR>
                    <a:lnT>
                      <a:noFill/>
                    </a:lnT>
                    <a:lnB>
                      <a:noFill/>
                    </a:lnB>
                    <a:noFill/>
                  </a:tcPr>
                </a:tc>
                <a:tc>
                  <a:txBody>
                    <a:bodyPr/>
                    <a:lstStyle/>
                    <a:p>
                      <a:pPr>
                        <a:buNone/>
                      </a:pPr>
                      <a:r>
                        <a:rPr lang="en-US"/>
                        <a:t>❌ No</a:t>
                      </a:r>
                    </a:p>
                  </a:txBody>
                  <a:tcPr anchor="ctr">
                    <a:lnL>
                      <a:noFill/>
                    </a:lnL>
                    <a:lnR>
                      <a:noFill/>
                    </a:lnR>
                    <a:lnT>
                      <a:noFill/>
                    </a:lnT>
                    <a:lnB>
                      <a:noFill/>
                    </a:lnB>
                    <a:noFill/>
                  </a:tcPr>
                </a:tc>
                <a:tc>
                  <a:txBody>
                    <a:bodyPr/>
                    <a:lstStyle/>
                    <a:p>
                      <a:pPr>
                        <a:buNone/>
                      </a:pPr>
                      <a:r>
                        <a:rPr lang="en-US"/>
                        <a:t>✅ Some models</a:t>
                      </a:r>
                    </a:p>
                  </a:txBody>
                  <a:tcPr anchor="ctr">
                    <a:lnL>
                      <a:noFill/>
                    </a:lnL>
                    <a:lnR>
                      <a:noFill/>
                    </a:lnR>
                    <a:lnT>
                      <a:noFill/>
                    </a:lnT>
                    <a:lnB>
                      <a:noFill/>
                    </a:lnB>
                    <a:noFill/>
                  </a:tcPr>
                </a:tc>
                <a:extLst>
                  <a:ext uri="{0D108BD9-81ED-4DB2-BD59-A6C34878D82A}">
                    <a16:rowId xmlns:a16="http://schemas.microsoft.com/office/drawing/2014/main" val="2807491741"/>
                  </a:ext>
                </a:extLst>
              </a:tr>
              <a:tr h="774436">
                <a:tc>
                  <a:txBody>
                    <a:bodyPr/>
                    <a:lstStyle/>
                    <a:p>
                      <a:pPr>
                        <a:buNone/>
                      </a:pPr>
                      <a:r>
                        <a:rPr lang="en-US" dirty="0"/>
                        <a:t>Display type</a:t>
                      </a:r>
                    </a:p>
                  </a:txBody>
                  <a:tcPr anchor="ctr">
                    <a:lnL>
                      <a:noFill/>
                    </a:lnL>
                    <a:lnR>
                      <a:noFill/>
                    </a:lnR>
                    <a:lnT>
                      <a:noFill/>
                    </a:lnT>
                    <a:lnB>
                      <a:noFill/>
                    </a:lnB>
                    <a:noFill/>
                  </a:tcPr>
                </a:tc>
                <a:tc>
                  <a:txBody>
                    <a:bodyPr/>
                    <a:lstStyle/>
                    <a:p>
                      <a:pPr>
                        <a:buNone/>
                      </a:pPr>
                      <a:r>
                        <a:rPr lang="en-US"/>
                        <a:t>Single-line</a:t>
                      </a:r>
                    </a:p>
                  </a:txBody>
                  <a:tcPr anchor="ctr">
                    <a:lnL>
                      <a:noFill/>
                    </a:lnL>
                    <a:lnR>
                      <a:noFill/>
                    </a:lnR>
                    <a:lnT>
                      <a:noFill/>
                    </a:lnT>
                    <a:lnB>
                      <a:noFill/>
                    </a:lnB>
                    <a:noFill/>
                  </a:tcPr>
                </a:tc>
                <a:tc>
                  <a:txBody>
                    <a:bodyPr/>
                    <a:lstStyle/>
                    <a:p>
                      <a:pPr>
                        <a:buNone/>
                      </a:pPr>
                      <a:r>
                        <a:rPr lang="en-US" dirty="0"/>
                        <a:t>Multi-line, advanced</a:t>
                      </a:r>
                    </a:p>
                  </a:txBody>
                  <a:tcPr anchor="ctr">
                    <a:lnL>
                      <a:noFill/>
                    </a:lnL>
                    <a:lnR>
                      <a:noFill/>
                    </a:lnR>
                    <a:lnT>
                      <a:noFill/>
                    </a:lnT>
                    <a:lnB>
                      <a:noFill/>
                    </a:lnB>
                    <a:noFill/>
                  </a:tcPr>
                </a:tc>
                <a:extLst>
                  <a:ext uri="{0D108BD9-81ED-4DB2-BD59-A6C34878D82A}">
                    <a16:rowId xmlns:a16="http://schemas.microsoft.com/office/drawing/2014/main" val="1043440128"/>
                  </a:ext>
                </a:extLst>
              </a:tr>
            </a:tbl>
          </a:graphicData>
        </a:graphic>
      </p:graphicFrame>
      <p:sp>
        <p:nvSpPr>
          <p:cNvPr id="6" name="TextBox 5">
            <a:extLst>
              <a:ext uri="{FF2B5EF4-FFF2-40B4-BE49-F238E27FC236}">
                <a16:creationId xmlns:a16="http://schemas.microsoft.com/office/drawing/2014/main" id="{893B6A56-7BBB-BE2F-79DC-D2B4AABE6297}"/>
              </a:ext>
            </a:extLst>
          </p:cNvPr>
          <p:cNvSpPr txBox="1"/>
          <p:nvPr/>
        </p:nvSpPr>
        <p:spPr>
          <a:xfrm>
            <a:off x="3471333" y="-55265"/>
            <a:ext cx="6096000" cy="461665"/>
          </a:xfrm>
          <a:prstGeom prst="rect">
            <a:avLst/>
          </a:prstGeom>
          <a:noFill/>
        </p:spPr>
        <p:txBody>
          <a:bodyPr wrap="square">
            <a:spAutoFit/>
          </a:bodyPr>
          <a:lstStyle/>
          <a:p>
            <a:r>
              <a:rPr lang="en-US" sz="2400" u="sng" dirty="0">
                <a:solidFill>
                  <a:srgbClr val="FF0000"/>
                </a:solidFill>
                <a:effectLst>
                  <a:outerShdw blurRad="38100" dist="38100" dir="2700000" algn="tl">
                    <a:srgbClr val="000000">
                      <a:alpha val="43137"/>
                    </a:srgbClr>
                  </a:outerShdw>
                </a:effectLst>
              </a:rPr>
              <a:t>Comparison: Basic vs. Scientific Calculator</a:t>
            </a:r>
          </a:p>
        </p:txBody>
      </p:sp>
    </p:spTree>
    <p:extLst>
      <p:ext uri="{BB962C8B-B14F-4D97-AF65-F5344CB8AC3E}">
        <p14:creationId xmlns:p14="http://schemas.microsoft.com/office/powerpoint/2010/main" val="4153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BC1589-BCBC-914E-E4E5-0109441DFB7A}"/>
              </a:ext>
            </a:extLst>
          </p:cNvPr>
          <p:cNvSpPr txBox="1"/>
          <p:nvPr/>
        </p:nvSpPr>
        <p:spPr>
          <a:xfrm>
            <a:off x="474133" y="863600"/>
            <a:ext cx="8669867" cy="1477328"/>
          </a:xfrm>
          <a:prstGeom prst="rect">
            <a:avLst/>
          </a:prstGeom>
          <a:noFill/>
        </p:spPr>
        <p:txBody>
          <a:bodyPr wrap="square">
            <a:spAutoFit/>
          </a:bodyPr>
          <a:lstStyle/>
          <a:p>
            <a:pPr>
              <a:buNone/>
            </a:pPr>
            <a:r>
              <a:rPr lang="en-US" b="1" dirty="0"/>
              <a:t>Why Python?</a:t>
            </a:r>
          </a:p>
          <a:p>
            <a:pPr>
              <a:buFont typeface="Arial" panose="020B0604020202020204" pitchFamily="34" charset="0"/>
              <a:buChar char="•"/>
            </a:pPr>
            <a:r>
              <a:rPr lang="en-US" b="1" dirty="0">
                <a:effectLst/>
              </a:rPr>
              <a:t>Open-source</a:t>
            </a:r>
            <a:r>
              <a:rPr lang="en-US" dirty="0">
                <a:effectLst/>
              </a:rPr>
              <a:t> → Free to use, large community support.</a:t>
            </a:r>
            <a:endParaRPr lang="en-US" dirty="0"/>
          </a:p>
          <a:p>
            <a:pPr>
              <a:buFont typeface="Arial" panose="020B0604020202020204" pitchFamily="34" charset="0"/>
              <a:buChar char="•"/>
            </a:pPr>
            <a:r>
              <a:rPr lang="en-US" b="1" dirty="0">
                <a:effectLst/>
              </a:rPr>
              <a:t>Versatile</a:t>
            </a:r>
            <a:r>
              <a:rPr lang="en-US" dirty="0">
                <a:effectLst/>
              </a:rPr>
              <a:t> → Handles math, data, GUI, and more.</a:t>
            </a:r>
            <a:endParaRPr lang="en-US" dirty="0"/>
          </a:p>
          <a:p>
            <a:pPr>
              <a:buFont typeface="Arial" panose="020B0604020202020204" pitchFamily="34" charset="0"/>
              <a:buChar char="•"/>
            </a:pPr>
            <a:r>
              <a:rPr lang="en-US" b="1" dirty="0">
                <a:effectLst/>
              </a:rPr>
              <a:t>Easy to extend</a:t>
            </a:r>
            <a:r>
              <a:rPr lang="en-US" dirty="0">
                <a:effectLst/>
              </a:rPr>
              <a:t> → Add libraries (NumPy, SymPy, Tkint</a:t>
            </a:r>
            <a:r>
              <a:rPr lang="en-US" dirty="0"/>
              <a:t>e</a:t>
            </a:r>
            <a:r>
              <a:rPr lang="en-US" dirty="0">
                <a:effectLst/>
              </a:rPr>
              <a:t>r) for advanced features.</a:t>
            </a:r>
            <a:endParaRPr lang="en-US" dirty="0"/>
          </a:p>
          <a:p>
            <a:pPr>
              <a:buFont typeface="Arial" panose="020B0604020202020204" pitchFamily="34" charset="0"/>
              <a:buChar char="•"/>
            </a:pPr>
            <a:r>
              <a:rPr lang="en-US" b="1" dirty="0">
                <a:effectLst/>
              </a:rPr>
              <a:t>Readable &amp; simple</a:t>
            </a:r>
            <a:r>
              <a:rPr lang="en-US" dirty="0">
                <a:effectLst/>
              </a:rPr>
              <a:t> → Beginner-friendly syntax, fast development.</a:t>
            </a:r>
            <a:endParaRPr lang="en-US" dirty="0"/>
          </a:p>
        </p:txBody>
      </p:sp>
      <p:sp>
        <p:nvSpPr>
          <p:cNvPr id="5" name="TextBox 4">
            <a:extLst>
              <a:ext uri="{FF2B5EF4-FFF2-40B4-BE49-F238E27FC236}">
                <a16:creationId xmlns:a16="http://schemas.microsoft.com/office/drawing/2014/main" id="{44D1FDE3-0FC9-83BA-D98C-AB5C11F1623A}"/>
              </a:ext>
            </a:extLst>
          </p:cNvPr>
          <p:cNvSpPr txBox="1"/>
          <p:nvPr/>
        </p:nvSpPr>
        <p:spPr>
          <a:xfrm>
            <a:off x="660400" y="2760133"/>
            <a:ext cx="10515600" cy="369332"/>
          </a:xfrm>
          <a:prstGeom prst="rect">
            <a:avLst/>
          </a:prstGeom>
          <a:noFill/>
        </p:spPr>
        <p:txBody>
          <a:bodyPr wrap="square">
            <a:spAutoFit/>
          </a:bodyPr>
          <a:lstStyle/>
          <a:p>
            <a:r>
              <a:rPr lang="en-US" dirty="0"/>
              <a:t>Python is free, powerful, and flexible—perfect for building a smart scientific calculator.</a:t>
            </a:r>
          </a:p>
        </p:txBody>
      </p:sp>
      <p:pic>
        <p:nvPicPr>
          <p:cNvPr id="2050" name="Picture 2" descr="Python advantages slide">
            <a:extLst>
              <a:ext uri="{FF2B5EF4-FFF2-40B4-BE49-F238E27FC236}">
                <a16:creationId xmlns:a16="http://schemas.microsoft.com/office/drawing/2014/main" id="{BDEE4679-B837-BF1C-614F-784422E0F6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8200" y="320040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192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C71710-2321-DEB7-8720-85605091E547}"/>
              </a:ext>
            </a:extLst>
          </p:cNvPr>
          <p:cNvSpPr txBox="1"/>
          <p:nvPr/>
        </p:nvSpPr>
        <p:spPr>
          <a:xfrm>
            <a:off x="524933" y="414866"/>
            <a:ext cx="8619067" cy="2677656"/>
          </a:xfrm>
          <a:prstGeom prst="rect">
            <a:avLst/>
          </a:prstGeom>
          <a:noFill/>
        </p:spPr>
        <p:txBody>
          <a:bodyPr wrap="square">
            <a:spAutoFit/>
          </a:bodyPr>
          <a:lstStyle/>
          <a:p>
            <a:pPr>
              <a:buNone/>
            </a:pPr>
            <a:r>
              <a:rPr lang="en-US" sz="2400" u="sng" dirty="0">
                <a:effectLst>
                  <a:outerShdw blurRad="38100" dist="38100" dir="2700000" algn="tl">
                    <a:srgbClr val="000000">
                      <a:alpha val="43137"/>
                    </a:srgbClr>
                  </a:outerShdw>
                </a:effectLst>
              </a:rPr>
              <a:t>Features</a:t>
            </a:r>
          </a:p>
          <a:p>
            <a:pPr>
              <a:buNone/>
            </a:pPr>
            <a:endParaRPr lang="en-US" sz="2400" b="1" dirty="0"/>
          </a:p>
          <a:p>
            <a:pPr>
              <a:buFont typeface="Arial" panose="020B0604020202020204" pitchFamily="34" charset="0"/>
              <a:buChar char="•"/>
            </a:pPr>
            <a:r>
              <a:rPr lang="en-US" sz="2400" dirty="0">
                <a:effectLst/>
              </a:rPr>
              <a:t>➕ Basic arithmetic</a:t>
            </a:r>
            <a:endParaRPr lang="en-US" sz="2400" dirty="0"/>
          </a:p>
          <a:p>
            <a:pPr>
              <a:buFont typeface="Arial" panose="020B0604020202020204" pitchFamily="34" charset="0"/>
              <a:buChar char="•"/>
            </a:pPr>
            <a:r>
              <a:rPr lang="en-US" sz="2400" dirty="0">
                <a:effectLst/>
              </a:rPr>
              <a:t>📐 Trigonometric functions</a:t>
            </a:r>
            <a:endParaRPr lang="en-US" sz="2400" dirty="0"/>
          </a:p>
          <a:p>
            <a:pPr>
              <a:buFont typeface="Arial" panose="020B0604020202020204" pitchFamily="34" charset="0"/>
              <a:buChar char="•"/>
            </a:pPr>
            <a:r>
              <a:rPr lang="en-US" sz="2400" dirty="0">
                <a:effectLst/>
              </a:rPr>
              <a:t>📊 Logarithms &amp; exponentials</a:t>
            </a:r>
            <a:endParaRPr lang="en-US" sz="2400" dirty="0"/>
          </a:p>
          <a:p>
            <a:pPr>
              <a:buFont typeface="Arial" panose="020B0604020202020204" pitchFamily="34" charset="0"/>
              <a:buChar char="•"/>
            </a:pPr>
            <a:r>
              <a:rPr lang="en-US" sz="2400" dirty="0">
                <a:effectLst/>
              </a:rPr>
              <a:t>🔒 Error handling</a:t>
            </a:r>
            <a:endParaRPr lang="en-US" sz="2400" dirty="0"/>
          </a:p>
          <a:p>
            <a:pPr>
              <a:buFont typeface="Arial" panose="020B0604020202020204" pitchFamily="34" charset="0"/>
              <a:buChar char="•"/>
            </a:pPr>
            <a:r>
              <a:rPr lang="en-US" sz="2400" dirty="0">
                <a:effectLst/>
              </a:rPr>
              <a:t>🔧 Modular design</a:t>
            </a:r>
            <a:endParaRPr lang="en-US" sz="2400" dirty="0"/>
          </a:p>
        </p:txBody>
      </p:sp>
      <p:pic>
        <p:nvPicPr>
          <p:cNvPr id="3074" name="Picture 2" descr="Smart Scientific Calculator Features Slide">
            <a:extLst>
              <a:ext uri="{FF2B5EF4-FFF2-40B4-BE49-F238E27FC236}">
                <a16:creationId xmlns:a16="http://schemas.microsoft.com/office/drawing/2014/main" id="{C4B585D2-C4BB-BBA0-3A51-ED04F4401E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5734" y="2785534"/>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451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C3DD06-F9F1-01CE-7544-1D0EA6F052F5}"/>
              </a:ext>
            </a:extLst>
          </p:cNvPr>
          <p:cNvSpPr txBox="1"/>
          <p:nvPr/>
        </p:nvSpPr>
        <p:spPr>
          <a:xfrm>
            <a:off x="609600" y="1002137"/>
            <a:ext cx="10414000" cy="954107"/>
          </a:xfrm>
          <a:prstGeom prst="rect">
            <a:avLst/>
          </a:prstGeom>
          <a:noFill/>
        </p:spPr>
        <p:txBody>
          <a:bodyPr wrap="square">
            <a:spAutoFit/>
          </a:bodyPr>
          <a:lstStyle/>
          <a:p>
            <a:pPr>
              <a:buNone/>
            </a:pPr>
            <a:r>
              <a:rPr lang="en-US" sz="3200" b="1" u="sng" dirty="0">
                <a:solidFill>
                  <a:srgbClr val="FF0000"/>
                </a:solidFill>
              </a:rPr>
              <a:t>System Requirements</a:t>
            </a:r>
          </a:p>
          <a:p>
            <a:pPr>
              <a:buNone/>
            </a:pPr>
            <a:endParaRPr lang="en-US" sz="2400" u="sng" dirty="0"/>
          </a:p>
        </p:txBody>
      </p:sp>
      <p:pic>
        <p:nvPicPr>
          <p:cNvPr id="4098" name="Picture 2" descr="Smart Calculator System Requirements Slide">
            <a:extLst>
              <a:ext uri="{FF2B5EF4-FFF2-40B4-BE49-F238E27FC236}">
                <a16:creationId xmlns:a16="http://schemas.microsoft.com/office/drawing/2014/main" id="{589D443D-EDE0-EE81-533C-413A5F282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1733" y="2776393"/>
            <a:ext cx="5486400" cy="3657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93D12EB-DF15-0585-574F-8053F03A2EF4}"/>
              </a:ext>
            </a:extLst>
          </p:cNvPr>
          <p:cNvSpPr txBox="1"/>
          <p:nvPr/>
        </p:nvSpPr>
        <p:spPr>
          <a:xfrm>
            <a:off x="287866" y="2085998"/>
            <a:ext cx="6096000" cy="1477328"/>
          </a:xfrm>
          <a:prstGeom prst="rect">
            <a:avLst/>
          </a:prstGeom>
          <a:noFill/>
        </p:spPr>
        <p:txBody>
          <a:bodyPr wrap="square">
            <a:spAutoFit/>
          </a:bodyPr>
          <a:lstStyle/>
          <a:p>
            <a:pPr>
              <a:buNone/>
            </a:pPr>
            <a:r>
              <a:rPr lang="en-US" dirty="0">
                <a:effectLst/>
              </a:rPr>
              <a:t>This slide clearly shows the two-column layout:</a:t>
            </a:r>
            <a:endParaRPr lang="en-US" dirty="0"/>
          </a:p>
          <a:p>
            <a:pPr>
              <a:buFont typeface="Arial" panose="020B0604020202020204" pitchFamily="34" charset="0"/>
              <a:buChar char="•"/>
            </a:pPr>
            <a:r>
              <a:rPr lang="en-US" b="1" dirty="0">
                <a:effectLst/>
              </a:rPr>
              <a:t>Left (Software):</a:t>
            </a:r>
            <a:endParaRPr lang="en-US" dirty="0"/>
          </a:p>
          <a:p>
            <a:pPr marL="742950" lvl="1" indent="-285750">
              <a:buFont typeface="Arial" panose="020B0604020202020204" pitchFamily="34" charset="0"/>
              <a:buChar char="•"/>
            </a:pPr>
            <a:r>
              <a:rPr lang="en-US" dirty="0">
                <a:effectLst/>
              </a:rPr>
              <a:t>Python 3.x</a:t>
            </a:r>
            <a:endParaRPr lang="en-US" dirty="0"/>
          </a:p>
          <a:p>
            <a:pPr marL="742950" lvl="1" indent="-285750">
              <a:buFont typeface="Arial" panose="020B0604020202020204" pitchFamily="34" charset="0"/>
              <a:buChar char="•"/>
            </a:pPr>
            <a:r>
              <a:rPr lang="en-US" dirty="0">
                <a:effectLst/>
              </a:rPr>
              <a:t>Libraries: </a:t>
            </a:r>
            <a:r>
              <a:rPr lang="en-US" dirty="0">
                <a:effectLst/>
                <a:latin typeface="Courier New" panose="02070309020205020404" pitchFamily="49" charset="0"/>
              </a:rPr>
              <a:t>math</a:t>
            </a:r>
            <a:r>
              <a:rPr lang="en-US" dirty="0">
                <a:effectLst/>
              </a:rPr>
              <a:t>, </a:t>
            </a:r>
            <a:r>
              <a:rPr lang="en-US" dirty="0" err="1">
                <a:effectLst/>
                <a:latin typeface="Courier New" panose="02070309020205020404" pitchFamily="49" charset="0"/>
              </a:rPr>
              <a:t>tkinter</a:t>
            </a:r>
            <a:r>
              <a:rPr lang="en-US" dirty="0">
                <a:effectLst/>
              </a:rPr>
              <a:t>, optional </a:t>
            </a:r>
            <a:r>
              <a:rPr lang="en-US" dirty="0" err="1">
                <a:effectLst/>
                <a:latin typeface="Courier New" panose="02070309020205020404" pitchFamily="49" charset="0"/>
              </a:rPr>
              <a:t>numpy</a:t>
            </a:r>
            <a:endParaRPr lang="en-US" dirty="0"/>
          </a:p>
          <a:p>
            <a:pPr marL="742950" lvl="1" indent="-285750">
              <a:buFont typeface="Arial" panose="020B0604020202020204" pitchFamily="34" charset="0"/>
              <a:buChar char="•"/>
            </a:pPr>
            <a:r>
              <a:rPr lang="en-US" dirty="0">
                <a:effectLst/>
              </a:rPr>
              <a:t>Python logo and code-related icons</a:t>
            </a:r>
            <a:endParaRPr lang="en-US" dirty="0"/>
          </a:p>
        </p:txBody>
      </p:sp>
      <p:sp>
        <p:nvSpPr>
          <p:cNvPr id="8" name="TextBox 7">
            <a:extLst>
              <a:ext uri="{FF2B5EF4-FFF2-40B4-BE49-F238E27FC236}">
                <a16:creationId xmlns:a16="http://schemas.microsoft.com/office/drawing/2014/main" id="{90551E54-9ACE-03D3-4A04-8E9E66695918}"/>
              </a:ext>
            </a:extLst>
          </p:cNvPr>
          <p:cNvSpPr txBox="1"/>
          <p:nvPr/>
        </p:nvSpPr>
        <p:spPr>
          <a:xfrm>
            <a:off x="287866" y="4398495"/>
            <a:ext cx="6096000" cy="1200329"/>
          </a:xfrm>
          <a:prstGeom prst="rect">
            <a:avLst/>
          </a:prstGeom>
          <a:noFill/>
        </p:spPr>
        <p:txBody>
          <a:bodyPr wrap="square">
            <a:spAutoFit/>
          </a:bodyPr>
          <a:lstStyle/>
          <a:p>
            <a:pPr>
              <a:buNone/>
            </a:pPr>
            <a:r>
              <a:rPr lang="en-US" b="1" dirty="0">
                <a:effectLst/>
              </a:rPr>
              <a:t>Right (Hardware):</a:t>
            </a:r>
            <a:endParaRPr lang="en-US" dirty="0"/>
          </a:p>
          <a:p>
            <a:pPr>
              <a:buFont typeface="Arial" panose="020B0604020202020204" pitchFamily="34" charset="0"/>
              <a:buChar char="•"/>
            </a:pPr>
            <a:r>
              <a:rPr lang="en-US" dirty="0">
                <a:effectLst/>
              </a:rPr>
              <a:t>Any standard PC/laptop</a:t>
            </a:r>
            <a:endParaRPr lang="en-US" dirty="0"/>
          </a:p>
          <a:p>
            <a:pPr>
              <a:buFont typeface="Arial" panose="020B0604020202020204" pitchFamily="34" charset="0"/>
              <a:buChar char="•"/>
            </a:pPr>
            <a:r>
              <a:rPr lang="en-US" dirty="0">
                <a:effectLst/>
              </a:rPr>
              <a:t>Compatible with Windows, macOS, or Linux</a:t>
            </a:r>
            <a:endParaRPr lang="en-US" dirty="0"/>
          </a:p>
          <a:p>
            <a:pPr>
              <a:buFont typeface="Arial" panose="020B0604020202020204" pitchFamily="34" charset="0"/>
              <a:buChar char="•"/>
            </a:pPr>
            <a:r>
              <a:rPr lang="en-US" dirty="0">
                <a:effectLst/>
              </a:rPr>
              <a:t>Device and OS logos for visual clarity</a:t>
            </a:r>
            <a:endParaRPr lang="en-US" dirty="0"/>
          </a:p>
        </p:txBody>
      </p:sp>
    </p:spTree>
    <p:extLst>
      <p:ext uri="{BB962C8B-B14F-4D97-AF65-F5344CB8AC3E}">
        <p14:creationId xmlns:p14="http://schemas.microsoft.com/office/powerpoint/2010/main" val="2789842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5F4905-C2C2-E30D-5CC3-2761E43C879C}"/>
              </a:ext>
            </a:extLst>
          </p:cNvPr>
          <p:cNvSpPr txBox="1"/>
          <p:nvPr/>
        </p:nvSpPr>
        <p:spPr>
          <a:xfrm>
            <a:off x="762000" y="915370"/>
            <a:ext cx="6096000" cy="2308324"/>
          </a:xfrm>
          <a:prstGeom prst="rect">
            <a:avLst/>
          </a:prstGeom>
          <a:solidFill>
            <a:schemeClr val="accent4">
              <a:lumMod val="20000"/>
              <a:lumOff val="80000"/>
            </a:schemeClr>
          </a:solidFill>
          <a:ln>
            <a:solidFill>
              <a:schemeClr val="accent2">
                <a:lumMod val="60000"/>
                <a:lumOff val="40000"/>
              </a:schemeClr>
            </a:solidFill>
          </a:ln>
        </p:spPr>
        <p:txBody>
          <a:bodyPr wrap="square">
            <a:spAutoFit/>
          </a:bodyPr>
          <a:lstStyle/>
          <a:p>
            <a:pPr>
              <a:buNone/>
            </a:pPr>
            <a:r>
              <a:rPr lang="en-US" sz="2400" b="1" dirty="0"/>
              <a:t>                                </a:t>
            </a:r>
            <a:r>
              <a:rPr lang="en-US" sz="2400" b="1" dirty="0">
                <a:solidFill>
                  <a:srgbClr val="FF0000"/>
                </a:solidFill>
              </a:rPr>
              <a:t>Workflow</a:t>
            </a:r>
          </a:p>
          <a:p>
            <a:pPr>
              <a:buNone/>
            </a:pPr>
            <a:endParaRPr lang="en-US" sz="2400" b="1" dirty="0"/>
          </a:p>
          <a:p>
            <a:pPr>
              <a:buNone/>
            </a:pPr>
            <a:r>
              <a:rPr lang="en-US" sz="2400" b="1" dirty="0">
                <a:effectLst/>
              </a:rPr>
              <a:t>Flowchart:</a:t>
            </a:r>
            <a:r>
              <a:rPr lang="en-US" sz="2400" dirty="0">
                <a:effectLst/>
              </a:rPr>
              <a:t> Input → Validation → Calculation → Output</a:t>
            </a:r>
            <a:endParaRPr lang="en-US" sz="2400" dirty="0"/>
          </a:p>
          <a:p>
            <a:pPr>
              <a:buNone/>
            </a:pPr>
            <a:r>
              <a:rPr lang="en-US" sz="2400" dirty="0">
                <a:effectLst/>
              </a:rPr>
              <a:t>Layout: Horizontal arrows with small icons (keyboard → gear → screen).</a:t>
            </a:r>
            <a:endParaRPr lang="en-US" sz="2400" dirty="0"/>
          </a:p>
        </p:txBody>
      </p:sp>
      <p:pic>
        <p:nvPicPr>
          <p:cNvPr id="5124" name="Picture 4" descr="Smart Calculator Workflow Diagram">
            <a:extLst>
              <a:ext uri="{FF2B5EF4-FFF2-40B4-BE49-F238E27FC236}">
                <a16:creationId xmlns:a16="http://schemas.microsoft.com/office/drawing/2014/main" id="{DA07DE5A-B144-872B-AA9A-E0E5FFFF5F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320040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43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E555714-BB1E-9D21-DBAC-104D557D45B4}"/>
              </a:ext>
            </a:extLst>
          </p:cNvPr>
          <p:cNvSpPr txBox="1"/>
          <p:nvPr/>
        </p:nvSpPr>
        <p:spPr>
          <a:xfrm>
            <a:off x="4775200" y="846667"/>
            <a:ext cx="2235200" cy="461665"/>
          </a:xfrm>
          <a:prstGeom prst="rect">
            <a:avLst/>
          </a:prstGeom>
          <a:solidFill>
            <a:schemeClr val="tx2">
              <a:lumMod val="20000"/>
              <a:lumOff val="80000"/>
            </a:schemeClr>
          </a:solidFill>
        </p:spPr>
        <p:txBody>
          <a:bodyPr wrap="square">
            <a:spAutoFit/>
          </a:bodyPr>
          <a:lstStyle/>
          <a:p>
            <a:r>
              <a:rPr lang="en-US" sz="2400" dirty="0">
                <a:solidFill>
                  <a:srgbClr val="FF0000"/>
                </a:solidFill>
                <a:effectLst>
                  <a:outerShdw blurRad="38100" dist="38100" dir="2700000" algn="tl">
                    <a:srgbClr val="000000">
                      <a:alpha val="43137"/>
                    </a:srgbClr>
                  </a:outerShdw>
                </a:effectLst>
              </a:rPr>
              <a:t>Code Highlights</a:t>
            </a:r>
          </a:p>
        </p:txBody>
      </p:sp>
      <p:sp>
        <p:nvSpPr>
          <p:cNvPr id="11" name="TextBox 10">
            <a:extLst>
              <a:ext uri="{FF2B5EF4-FFF2-40B4-BE49-F238E27FC236}">
                <a16:creationId xmlns:a16="http://schemas.microsoft.com/office/drawing/2014/main" id="{3EADA0F7-1259-B2EB-10E5-3BE839E01211}"/>
              </a:ext>
            </a:extLst>
          </p:cNvPr>
          <p:cNvSpPr txBox="1"/>
          <p:nvPr/>
        </p:nvSpPr>
        <p:spPr>
          <a:xfrm>
            <a:off x="795867" y="1879600"/>
            <a:ext cx="8348133" cy="2677656"/>
          </a:xfrm>
          <a:prstGeom prst="rect">
            <a:avLst/>
          </a:prstGeom>
          <a:solidFill>
            <a:schemeClr val="bg2">
              <a:lumMod val="50000"/>
            </a:schemeClr>
          </a:solidFill>
          <a:ln>
            <a:solidFill>
              <a:srgbClr val="FF0000"/>
            </a:solidFill>
          </a:ln>
        </p:spPr>
        <p:txBody>
          <a:bodyPr wrap="square">
            <a:spAutoFit/>
          </a:bodyPr>
          <a:lstStyle/>
          <a:p>
            <a:r>
              <a:rPr lang="en-US" sz="2400" dirty="0"/>
              <a:t>import math</a:t>
            </a:r>
          </a:p>
          <a:p>
            <a:r>
              <a:rPr lang="en-US" sz="2400" dirty="0"/>
              <a:t>def calculate(expression):</a:t>
            </a:r>
          </a:p>
          <a:p>
            <a:r>
              <a:rPr lang="en-US" sz="2400" dirty="0"/>
              <a:t>    try:</a:t>
            </a:r>
          </a:p>
          <a:p>
            <a:r>
              <a:rPr lang="en-US" sz="2400" dirty="0"/>
              <a:t>        return eval(expression, {"__</a:t>
            </a:r>
            <a:r>
              <a:rPr lang="en-US" sz="2400" dirty="0" err="1"/>
              <a:t>builtins</a:t>
            </a:r>
            <a:r>
              <a:rPr lang="en-US" sz="2400" dirty="0"/>
              <a:t>__": None}, math.__</a:t>
            </a:r>
            <a:r>
              <a:rPr lang="en-US" sz="2400" dirty="0" err="1"/>
              <a:t>dict</a:t>
            </a:r>
            <a:r>
              <a:rPr lang="en-US" sz="2400" dirty="0"/>
              <a:t>__)</a:t>
            </a:r>
          </a:p>
          <a:p>
            <a:r>
              <a:rPr lang="en-US" sz="2400" dirty="0"/>
              <a:t>    except Exception as e:</a:t>
            </a:r>
          </a:p>
          <a:p>
            <a:r>
              <a:rPr lang="en-US" sz="2400" dirty="0"/>
              <a:t>        return </a:t>
            </a:r>
            <a:r>
              <a:rPr lang="en-US" sz="2400" dirty="0" err="1"/>
              <a:t>f"Error</a:t>
            </a:r>
            <a:r>
              <a:rPr lang="en-US" sz="2400" dirty="0"/>
              <a:t>: {e}"</a:t>
            </a:r>
          </a:p>
        </p:txBody>
      </p:sp>
      <p:sp>
        <p:nvSpPr>
          <p:cNvPr id="13" name="TextBox 12">
            <a:extLst>
              <a:ext uri="{FF2B5EF4-FFF2-40B4-BE49-F238E27FC236}">
                <a16:creationId xmlns:a16="http://schemas.microsoft.com/office/drawing/2014/main" id="{3BB1B72A-F2BE-2CAD-10D3-D92545B59213}"/>
              </a:ext>
            </a:extLst>
          </p:cNvPr>
          <p:cNvSpPr txBox="1"/>
          <p:nvPr/>
        </p:nvSpPr>
        <p:spPr>
          <a:xfrm>
            <a:off x="795866" y="5019301"/>
            <a:ext cx="9719733" cy="954107"/>
          </a:xfrm>
          <a:prstGeom prst="rect">
            <a:avLst/>
          </a:prstGeom>
          <a:noFill/>
        </p:spPr>
        <p:txBody>
          <a:bodyPr wrap="square">
            <a:spAutoFit/>
          </a:bodyPr>
          <a:lstStyle/>
          <a:p>
            <a:pPr>
              <a:buNone/>
            </a:pPr>
            <a:r>
              <a:rPr lang="en-US" sz="2800" dirty="0">
                <a:effectLst/>
              </a:rPr>
              <a:t>Caption: </a:t>
            </a:r>
            <a:r>
              <a:rPr lang="en-US" sz="2800" i="1" dirty="0">
                <a:effectLst/>
              </a:rPr>
              <a:t>Safe evaluation using math module</a:t>
            </a:r>
            <a:endParaRPr lang="en-US" sz="2800" dirty="0"/>
          </a:p>
          <a:p>
            <a:pPr>
              <a:buNone/>
            </a:pPr>
            <a:endParaRPr lang="en-US" sz="2800" dirty="0"/>
          </a:p>
        </p:txBody>
      </p:sp>
    </p:spTree>
    <p:extLst>
      <p:ext uri="{BB962C8B-B14F-4D97-AF65-F5344CB8AC3E}">
        <p14:creationId xmlns:p14="http://schemas.microsoft.com/office/powerpoint/2010/main" val="856536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6552B2-AA3C-7E48-E3F2-C8D186A00590}"/>
              </a:ext>
            </a:extLst>
          </p:cNvPr>
          <p:cNvSpPr txBox="1"/>
          <p:nvPr/>
        </p:nvSpPr>
        <p:spPr>
          <a:xfrm>
            <a:off x="1354667" y="1351508"/>
            <a:ext cx="8229600" cy="4154984"/>
          </a:xfrm>
          <a:prstGeom prst="rect">
            <a:avLst/>
          </a:prstGeom>
          <a:noFill/>
        </p:spPr>
        <p:txBody>
          <a:bodyPr wrap="square">
            <a:spAutoFit/>
          </a:bodyPr>
          <a:lstStyle/>
          <a:p>
            <a:pPr>
              <a:buNone/>
            </a:pPr>
            <a:r>
              <a:rPr lang="en-US" sz="4400" b="1" u="sng" dirty="0"/>
              <a:t>Advantages</a:t>
            </a:r>
          </a:p>
          <a:p>
            <a:pPr>
              <a:buFont typeface="Arial" panose="020B0604020202020204" pitchFamily="34" charset="0"/>
              <a:buChar char="•"/>
            </a:pPr>
            <a:r>
              <a:rPr lang="en-US" sz="4400" dirty="0">
                <a:effectLst/>
              </a:rPr>
              <a:t>✅ Open-source &amp; Customizable</a:t>
            </a:r>
            <a:endParaRPr lang="en-US" sz="4400" dirty="0"/>
          </a:p>
          <a:p>
            <a:pPr>
              <a:buFont typeface="Arial" panose="020B0604020202020204" pitchFamily="34" charset="0"/>
              <a:buChar char="•"/>
            </a:pPr>
            <a:r>
              <a:rPr lang="en-US" sz="4400" dirty="0">
                <a:effectLst/>
              </a:rPr>
              <a:t>✅ Lightweight &amp; Portable</a:t>
            </a:r>
            <a:endParaRPr lang="en-US" sz="4400" dirty="0"/>
          </a:p>
          <a:p>
            <a:pPr>
              <a:buFont typeface="Arial" panose="020B0604020202020204" pitchFamily="34" charset="0"/>
              <a:buChar char="•"/>
            </a:pPr>
            <a:r>
              <a:rPr lang="en-US" sz="4400" dirty="0">
                <a:effectLst/>
              </a:rPr>
              <a:t>✅ Educational Value</a:t>
            </a:r>
            <a:endParaRPr lang="en-US" sz="4400" dirty="0"/>
          </a:p>
          <a:p>
            <a:pPr>
              <a:buFont typeface="Arial" panose="020B0604020202020204" pitchFamily="34" charset="0"/>
              <a:buChar char="•"/>
            </a:pPr>
            <a:r>
              <a:rPr lang="en-US" sz="4400" dirty="0">
                <a:effectLst/>
              </a:rPr>
              <a:t>✅ Easy To Extend</a:t>
            </a:r>
            <a:endParaRPr lang="en-US" sz="4400" dirty="0"/>
          </a:p>
          <a:p>
            <a:pPr>
              <a:buNone/>
            </a:pPr>
            <a:endParaRPr lang="en-US" sz="4400" dirty="0"/>
          </a:p>
        </p:txBody>
      </p:sp>
    </p:spTree>
    <p:extLst>
      <p:ext uri="{BB962C8B-B14F-4D97-AF65-F5344CB8AC3E}">
        <p14:creationId xmlns:p14="http://schemas.microsoft.com/office/powerpoint/2010/main" val="2001057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FAB27A-9B22-BB4B-3048-211891DD929F}"/>
              </a:ext>
            </a:extLst>
          </p:cNvPr>
          <p:cNvSpPr txBox="1"/>
          <p:nvPr/>
        </p:nvSpPr>
        <p:spPr>
          <a:xfrm>
            <a:off x="1151466" y="1761066"/>
            <a:ext cx="10701867" cy="3046988"/>
          </a:xfrm>
          <a:prstGeom prst="rect">
            <a:avLst/>
          </a:prstGeom>
          <a:noFill/>
        </p:spPr>
        <p:txBody>
          <a:bodyPr wrap="square">
            <a:spAutoFit/>
          </a:bodyPr>
          <a:lstStyle/>
          <a:p>
            <a:pPr>
              <a:buNone/>
            </a:pPr>
            <a:r>
              <a:rPr lang="en-US" sz="3200" b="1" dirty="0"/>
              <a:t>Limitations</a:t>
            </a:r>
          </a:p>
          <a:p>
            <a:pPr>
              <a:buNone/>
            </a:pPr>
            <a:endParaRPr lang="en-US" sz="3200" b="1" dirty="0"/>
          </a:p>
          <a:p>
            <a:pPr>
              <a:buFont typeface="Arial" panose="020B0604020202020204" pitchFamily="34" charset="0"/>
              <a:buChar char="•"/>
            </a:pPr>
            <a:r>
              <a:rPr lang="en-US" sz="3200" dirty="0">
                <a:effectLst/>
              </a:rPr>
              <a:t>⚠️ Basic GUI compared to commercial calculators</a:t>
            </a:r>
            <a:endParaRPr lang="en-US" sz="3200" dirty="0"/>
          </a:p>
          <a:p>
            <a:pPr>
              <a:buFont typeface="Arial" panose="020B0604020202020204" pitchFamily="34" charset="0"/>
              <a:buChar char="•"/>
            </a:pPr>
            <a:r>
              <a:rPr lang="en-US" sz="3200" dirty="0">
                <a:effectLst/>
              </a:rPr>
              <a:t>⚠️ Requires Python setup</a:t>
            </a:r>
            <a:endParaRPr lang="en-US" sz="3200" dirty="0"/>
          </a:p>
          <a:p>
            <a:pPr>
              <a:buFont typeface="Arial" panose="020B0604020202020204" pitchFamily="34" charset="0"/>
              <a:buChar char="•"/>
            </a:pPr>
            <a:r>
              <a:rPr lang="en-US" sz="3200" dirty="0">
                <a:effectLst/>
              </a:rPr>
              <a:t>⚠️ Limited to implemented functions</a:t>
            </a:r>
          </a:p>
          <a:p>
            <a:pPr>
              <a:buNone/>
            </a:pPr>
            <a:endParaRPr lang="en-US" sz="3200" dirty="0"/>
          </a:p>
        </p:txBody>
      </p:sp>
    </p:spTree>
    <p:extLst>
      <p:ext uri="{BB962C8B-B14F-4D97-AF65-F5344CB8AC3E}">
        <p14:creationId xmlns:p14="http://schemas.microsoft.com/office/powerpoint/2010/main" val="1480653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A8E168-AE00-56E4-0E0F-20186933AC72}"/>
              </a:ext>
            </a:extLst>
          </p:cNvPr>
          <p:cNvSpPr txBox="1"/>
          <p:nvPr/>
        </p:nvSpPr>
        <p:spPr>
          <a:xfrm>
            <a:off x="592667" y="999067"/>
            <a:ext cx="9618133" cy="2308324"/>
          </a:xfrm>
          <a:prstGeom prst="rect">
            <a:avLst/>
          </a:prstGeom>
          <a:noFill/>
        </p:spPr>
        <p:txBody>
          <a:bodyPr wrap="square">
            <a:spAutoFit/>
          </a:bodyPr>
          <a:lstStyle/>
          <a:p>
            <a:pPr>
              <a:buNone/>
            </a:pPr>
            <a:r>
              <a:rPr lang="en-US" sz="2400" b="1" dirty="0"/>
              <a:t>Future Scope</a:t>
            </a:r>
          </a:p>
          <a:p>
            <a:pPr>
              <a:buFont typeface="Arial" panose="020B0604020202020204" pitchFamily="34" charset="0"/>
              <a:buChar char="•"/>
            </a:pPr>
            <a:r>
              <a:rPr lang="en-US" sz="2400" dirty="0">
                <a:effectLst/>
              </a:rPr>
              <a:t>📈 Graph plotting</a:t>
            </a:r>
            <a:endParaRPr lang="en-US" sz="2400" dirty="0"/>
          </a:p>
          <a:p>
            <a:pPr>
              <a:buFont typeface="Arial" panose="020B0604020202020204" pitchFamily="34" charset="0"/>
              <a:buChar char="•"/>
            </a:pPr>
            <a:r>
              <a:rPr lang="en-US" sz="2400" dirty="0">
                <a:effectLst/>
              </a:rPr>
              <a:t>🧮 Symbolic computation (SymPy)</a:t>
            </a:r>
            <a:endParaRPr lang="en-US" sz="2400" dirty="0"/>
          </a:p>
          <a:p>
            <a:pPr>
              <a:buFont typeface="Arial" panose="020B0604020202020204" pitchFamily="34" charset="0"/>
              <a:buChar char="•"/>
            </a:pPr>
            <a:r>
              <a:rPr lang="en-US" sz="2400" dirty="0">
                <a:effectLst/>
              </a:rPr>
              <a:t>🎤 Voice input</a:t>
            </a:r>
            <a:endParaRPr lang="en-US" sz="2400" dirty="0"/>
          </a:p>
          <a:p>
            <a:pPr>
              <a:buFont typeface="Arial" panose="020B0604020202020204" pitchFamily="34" charset="0"/>
              <a:buChar char="•"/>
            </a:pPr>
            <a:r>
              <a:rPr lang="en-US" sz="2400" dirty="0">
                <a:effectLst/>
              </a:rPr>
              <a:t>📱 Mobile app version</a:t>
            </a:r>
            <a:endParaRPr lang="en-US" sz="2400" dirty="0"/>
          </a:p>
          <a:p>
            <a:pPr>
              <a:buNone/>
            </a:pPr>
            <a:r>
              <a:rPr lang="en-US" sz="2400" dirty="0">
                <a:effectLst/>
              </a:rPr>
              <a:t>Layout: Timeline graphic or roadmap arrows.</a:t>
            </a:r>
            <a:endParaRPr lang="en-US" sz="2400" dirty="0"/>
          </a:p>
        </p:txBody>
      </p:sp>
      <p:pic>
        <p:nvPicPr>
          <p:cNvPr id="7170" name="Picture 2" descr="Smart Calculator Future Scope Timeline">
            <a:extLst>
              <a:ext uri="{FF2B5EF4-FFF2-40B4-BE49-F238E27FC236}">
                <a16:creationId xmlns:a16="http://schemas.microsoft.com/office/drawing/2014/main" id="{FF96510A-66B4-F548-076C-E6EBBB4D7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00" y="297180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6046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A5FA41-2E80-DC0D-68F7-0EA7827EB38E}"/>
              </a:ext>
            </a:extLst>
          </p:cNvPr>
          <p:cNvSpPr txBox="1"/>
          <p:nvPr/>
        </p:nvSpPr>
        <p:spPr>
          <a:xfrm>
            <a:off x="677333" y="999067"/>
            <a:ext cx="6028267" cy="5016758"/>
          </a:xfrm>
          <a:prstGeom prst="rect">
            <a:avLst/>
          </a:prstGeom>
          <a:noFill/>
          <a:ln>
            <a:solidFill>
              <a:srgbClr val="FF0000"/>
            </a:solidFill>
          </a:ln>
        </p:spPr>
        <p:txBody>
          <a:bodyPr wrap="square">
            <a:spAutoFit/>
          </a:bodyPr>
          <a:lstStyle/>
          <a:p>
            <a:pPr>
              <a:buNone/>
            </a:pPr>
            <a:r>
              <a:rPr lang="en-US" sz="3200" b="1" dirty="0"/>
              <a:t> </a:t>
            </a:r>
            <a:r>
              <a:rPr lang="en-US" sz="3200" b="1" u="sng" dirty="0"/>
              <a:t>Conclusion</a:t>
            </a:r>
          </a:p>
          <a:p>
            <a:pPr>
              <a:buNone/>
            </a:pPr>
            <a:endParaRPr lang="en-US" sz="3200" b="1" dirty="0"/>
          </a:p>
          <a:p>
            <a:pPr>
              <a:buFont typeface="Arial" panose="020B0604020202020204" pitchFamily="34" charset="0"/>
              <a:buChar char="•"/>
            </a:pPr>
            <a:r>
              <a:rPr lang="en-US" sz="3200" dirty="0">
                <a:effectLst/>
              </a:rPr>
              <a:t>Python makes scientific computing simple &amp; scalable</a:t>
            </a:r>
            <a:endParaRPr lang="en-US" sz="3200" dirty="0"/>
          </a:p>
          <a:p>
            <a:pPr>
              <a:buFont typeface="Arial" panose="020B0604020202020204" pitchFamily="34" charset="0"/>
              <a:buChar char="•"/>
            </a:pPr>
            <a:r>
              <a:rPr lang="en-US" sz="3200" dirty="0">
                <a:effectLst/>
              </a:rPr>
              <a:t>Useful for students, engineers, researchers</a:t>
            </a:r>
            <a:endParaRPr lang="en-US" sz="3200" dirty="0"/>
          </a:p>
          <a:p>
            <a:pPr>
              <a:buFont typeface="Arial" panose="020B0604020202020204" pitchFamily="34" charset="0"/>
              <a:buChar char="•"/>
            </a:pPr>
            <a:r>
              <a:rPr lang="en-US" sz="3200" dirty="0">
                <a:effectLst/>
              </a:rPr>
              <a:t>Foundation for advanced computational tools</a:t>
            </a:r>
            <a:endParaRPr lang="en-US" sz="3200" dirty="0"/>
          </a:p>
          <a:p>
            <a:pPr>
              <a:buNone/>
            </a:pPr>
            <a:r>
              <a:rPr lang="en-US" sz="3200" dirty="0">
                <a:effectLst/>
              </a:rPr>
              <a:t>Layout: Bold closing statement + calculator + Python logo.</a:t>
            </a:r>
            <a:endParaRPr lang="en-US" sz="3200" dirty="0"/>
          </a:p>
        </p:txBody>
      </p:sp>
      <p:pic>
        <p:nvPicPr>
          <p:cNvPr id="8194" name="Picture 2" descr="Smart Calculator Conclusion Slide">
            <a:extLst>
              <a:ext uri="{FF2B5EF4-FFF2-40B4-BE49-F238E27FC236}">
                <a16:creationId xmlns:a16="http://schemas.microsoft.com/office/drawing/2014/main" id="{E39083BE-E1B4-373E-ECEE-A14598136A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3200400"/>
            <a:ext cx="54864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928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3314" name="Picture 2" descr="Thank You Slide by Anshita Srivastava">
            <a:extLst>
              <a:ext uri="{FF2B5EF4-FFF2-40B4-BE49-F238E27FC236}">
                <a16:creationId xmlns:a16="http://schemas.microsoft.com/office/drawing/2014/main" id="{432C34AE-D9A9-D532-8BC8-F2093D6A7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0" y="1058333"/>
            <a:ext cx="7112000" cy="4741334"/>
          </a:xfrm>
          <a:prstGeom prst="rect">
            <a:avLst/>
          </a:prstGeom>
          <a:solidFill>
            <a:schemeClr val="accent2">
              <a:lumMod val="75000"/>
            </a:schemeClr>
          </a:solidFill>
          <a:effectLst>
            <a:glow rad="139700">
              <a:schemeClr val="accent2">
                <a:satMod val="175000"/>
                <a:alpha val="40000"/>
              </a:schemeClr>
            </a:glow>
          </a:effectLst>
        </p:spPr>
      </p:pic>
    </p:spTree>
    <p:extLst>
      <p:ext uri="{BB962C8B-B14F-4D97-AF65-F5344CB8AC3E}">
        <p14:creationId xmlns:p14="http://schemas.microsoft.com/office/powerpoint/2010/main" val="164011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1584</TotalTime>
  <Words>532</Words>
  <Application>Microsoft Office PowerPoint</Application>
  <PresentationFormat>Widescreen</PresentationFormat>
  <Paragraphs>94</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1</cp:revision>
  <dcterms:created xsi:type="dcterms:W3CDTF">2026-04-30T09:12:16Z</dcterms:created>
  <dcterms:modified xsi:type="dcterms:W3CDTF">2026-05-01T16:48:49Z</dcterms:modified>
</cp:coreProperties>
</file>